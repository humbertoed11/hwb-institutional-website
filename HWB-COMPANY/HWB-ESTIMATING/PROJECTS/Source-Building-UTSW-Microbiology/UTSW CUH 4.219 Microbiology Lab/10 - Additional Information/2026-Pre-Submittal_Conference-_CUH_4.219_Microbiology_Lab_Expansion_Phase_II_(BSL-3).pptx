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0"/>
  </p:notesMasterIdLst>
  <p:handoutMasterIdLst>
    <p:handoutMasterId r:id="rId11"/>
  </p:handoutMasterIdLst>
  <p:sldIdLst>
    <p:sldId id="292" r:id="rId2"/>
    <p:sldId id="284" r:id="rId3"/>
    <p:sldId id="277" r:id="rId4"/>
    <p:sldId id="293" r:id="rId5"/>
    <p:sldId id="278" r:id="rId6"/>
    <p:sldId id="294" r:id="rId7"/>
    <p:sldId id="290" r:id="rId8"/>
    <p:sldId id="275" r:id="rId9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Geneva" pitchFamily="123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Geneva" pitchFamily="123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Geneva" pitchFamily="123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Geneva" pitchFamily="123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Geneva" pitchFamily="123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Geneva" pitchFamily="123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Geneva" pitchFamily="123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Geneva" pitchFamily="123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Geneva" pitchFamily="123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ni Tobin" initials="TT" lastIdx="9" clrIdx="0">
    <p:extLst>
      <p:ext uri="{19B8F6BF-5375-455C-9EA6-DF929625EA0E}">
        <p15:presenceInfo xmlns:p15="http://schemas.microsoft.com/office/powerpoint/2012/main" userId="S-1-5-21-2111920290-1520124285-766854361-18206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3800" autoAdjust="0"/>
  </p:normalViewPr>
  <p:slideViewPr>
    <p:cSldViewPr snapToGrid="0" snapToObjects="1">
      <p:cViewPr varScale="1">
        <p:scale>
          <a:sx n="78" d="100"/>
          <a:sy n="78" d="100"/>
        </p:scale>
        <p:origin x="1622" y="72"/>
      </p:cViewPr>
      <p:guideLst/>
    </p:cSldViewPr>
  </p:slideViewPr>
  <p:outlineViewPr>
    <p:cViewPr>
      <p:scale>
        <a:sx n="33" d="100"/>
        <a:sy n="33" d="100"/>
      </p:scale>
      <p:origin x="0" y="-63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A99725C-3F82-4D6A-BD93-A2496077D591}" type="datetimeFigureOut">
              <a:rPr lang="en-US" altLang="en-US"/>
              <a:pPr>
                <a:defRPr/>
              </a:pPr>
              <a:t>4/1/2026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075C22EB-723B-4024-88D0-7F9DBB8CF3C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2D07AA6-FF1A-4A6A-8FBA-F63EC4B1731B}" type="datetimeFigureOut">
              <a:rPr lang="en-US" altLang="en-US"/>
              <a:pPr>
                <a:defRPr/>
              </a:pPr>
              <a:t>4/1/2026</a:t>
            </a:fld>
            <a:endParaRPr lang="en-US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1C0EB5D-E423-4A34-8D86-26F55F981C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123" charset="-128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123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123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123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12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004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774700" y="6321425"/>
            <a:ext cx="800100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New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8" y="6369050"/>
            <a:ext cx="1546225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325880"/>
            <a:ext cx="7998460" cy="4397587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777240" y="338667"/>
            <a:ext cx="7678414" cy="677332"/>
          </a:xfrm>
          <a:prstGeom prst="rect">
            <a:avLst/>
          </a:prstGeom>
        </p:spPr>
        <p:txBody>
          <a:bodyPr vert="horz" lIns="0" tIns="0" rIns="0" bIns="190500" rtlCol="0" anchor="b" anchorCtr="0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77875" y="6492875"/>
            <a:ext cx="455613" cy="2825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smtClean="0">
                <a:solidFill>
                  <a:srgbClr val="7F7F7F"/>
                </a:solidFill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A79E45F2-33BD-4624-A2FC-CA5D637EA41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9798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004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774700" y="6321425"/>
            <a:ext cx="800100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5" descr="New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8" y="6369050"/>
            <a:ext cx="1546225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777240" y="338667"/>
            <a:ext cx="7678414" cy="677332"/>
          </a:xfrm>
          <a:prstGeom prst="rect">
            <a:avLst/>
          </a:prstGeom>
        </p:spPr>
        <p:txBody>
          <a:bodyPr vert="horz" lIns="0" tIns="0" rIns="0" bIns="190500" rtlCol="0" anchor="b" anchorCtr="0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77875" y="6492875"/>
            <a:ext cx="455613" cy="2825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smtClean="0">
                <a:solidFill>
                  <a:srgbClr val="7F7F7F"/>
                </a:solidFill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C0658E8E-BD09-499B-B223-A1849D84435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8184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774700" y="6321425"/>
            <a:ext cx="800100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4" descr="New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8" y="6369050"/>
            <a:ext cx="1546225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77875" y="6492875"/>
            <a:ext cx="455613" cy="2825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smtClean="0">
                <a:solidFill>
                  <a:srgbClr val="7F7F7F"/>
                </a:solidFill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56D60F3C-04EC-41A1-8749-08136D8CC4F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3926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004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774700" y="6321425"/>
            <a:ext cx="800100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5" descr="New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8" y="6369050"/>
            <a:ext cx="1546225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77240" y="4167820"/>
            <a:ext cx="4114800" cy="4114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900">
                <a:solidFill>
                  <a:srgbClr val="004278"/>
                </a:solidFill>
                <a:latin typeface="Helvetica"/>
                <a:cs typeface="Helvetica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486402" y="4167819"/>
            <a:ext cx="2284389" cy="4114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900">
                <a:solidFill>
                  <a:srgbClr val="004278"/>
                </a:solidFill>
                <a:latin typeface="Helvetica"/>
                <a:cs typeface="Helvetica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777239" y="1333179"/>
            <a:ext cx="4114800" cy="2742726"/>
          </a:xfrm>
        </p:spPr>
        <p:txBody>
          <a:bodyPr rtlCol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0" y="4812201"/>
            <a:ext cx="8032616" cy="13717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10"/>
          </p:nvPr>
        </p:nvSpPr>
        <p:spPr>
          <a:xfrm>
            <a:off x="5486401" y="1333179"/>
            <a:ext cx="2284390" cy="2742726"/>
          </a:xfrm>
        </p:spPr>
        <p:txBody>
          <a:bodyPr rtlCol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777240" y="338667"/>
            <a:ext cx="7678414" cy="677332"/>
          </a:xfrm>
          <a:prstGeom prst="rect">
            <a:avLst/>
          </a:prstGeom>
        </p:spPr>
        <p:txBody>
          <a:bodyPr vert="horz" lIns="0" tIns="0" rIns="0" bIns="190500" rtlCol="0" anchor="b" anchorCtr="0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777875" y="6492875"/>
            <a:ext cx="455613" cy="2825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smtClean="0">
                <a:solidFill>
                  <a:srgbClr val="7F7F7F"/>
                </a:solidFill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026C8F4C-38D6-464D-8BB4-DF6A8CFB563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8972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004278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98550" y="2228850"/>
            <a:ext cx="8045450" cy="0"/>
          </a:xfrm>
          <a:prstGeom prst="line">
            <a:avLst/>
          </a:prstGeom>
          <a:ln w="127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NewLogo_wh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0" y="704850"/>
            <a:ext cx="339090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1097280" y="2350008"/>
            <a:ext cx="7308056" cy="112949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3600">
                <a:solidFill>
                  <a:srgbClr val="595959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3600">
                <a:solidFill>
                  <a:srgbClr val="595959"/>
                </a:solidFill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3600">
                <a:solidFill>
                  <a:srgbClr val="595959"/>
                </a:solidFill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36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097280" y="3571343"/>
            <a:ext cx="7308056" cy="28209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827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ew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0" y="711200"/>
            <a:ext cx="339090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1098550" y="2228850"/>
            <a:ext cx="8045450" cy="0"/>
          </a:xfrm>
          <a:prstGeom prst="line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1097280" y="2350008"/>
            <a:ext cx="7308056" cy="112949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600">
                <a:solidFill>
                  <a:srgbClr val="595959"/>
                </a:solidFill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3600">
                <a:solidFill>
                  <a:srgbClr val="595959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3600">
                <a:solidFill>
                  <a:srgbClr val="595959"/>
                </a:solidFill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3600">
                <a:solidFill>
                  <a:srgbClr val="595959"/>
                </a:solidFill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36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097280" y="3571343"/>
            <a:ext cx="7308056" cy="282099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079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77875" y="1828800"/>
            <a:ext cx="7997825" cy="46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1400" b="1" kern="1200">
          <a:solidFill>
            <a:schemeClr val="bg1"/>
          </a:solidFill>
          <a:latin typeface="Helvetica"/>
          <a:ea typeface="Geneva" pitchFamily="123" charset="-128"/>
          <a:cs typeface="Helvetica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Helvetica" panose="020B0604020202020204" pitchFamily="34" charset="0"/>
          <a:ea typeface="Geneva" pitchFamily="123" charset="-128"/>
          <a:cs typeface="Helvetica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Helvetica" panose="020B0604020202020204" pitchFamily="34" charset="0"/>
          <a:ea typeface="Geneva" pitchFamily="123" charset="-128"/>
          <a:cs typeface="Helvetica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Helvetica" panose="020B0604020202020204" pitchFamily="34" charset="0"/>
          <a:ea typeface="Geneva" pitchFamily="123" charset="-128"/>
          <a:cs typeface="Helvetica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Helvetica" panose="020B0604020202020204" pitchFamily="34" charset="0"/>
          <a:ea typeface="Geneva" pitchFamily="123" charset="-128"/>
          <a:cs typeface="Helvetica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Helvetica" panose="020B0604020202020204" pitchFamily="34" charset="0"/>
          <a:ea typeface="Geneva" pitchFamily="123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Helvetica" panose="020B0604020202020204" pitchFamily="34" charset="0"/>
          <a:ea typeface="Geneva" pitchFamily="123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Helvetica" panose="020B0604020202020204" pitchFamily="34" charset="0"/>
          <a:ea typeface="Geneva" pitchFamily="123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Helvetica" panose="020B0604020202020204" pitchFamily="34" charset="0"/>
          <a:ea typeface="Geneva" pitchFamily="123" charset="-128"/>
        </a:defRPr>
      </a:lvl9pPr>
    </p:titleStyle>
    <p:bodyStyle>
      <a:lvl1pPr marL="44450" indent="136525" algn="l" defTabSz="457200" rtl="0" eaLnBrk="1" fontAlgn="base" hangingPunct="1">
        <a:lnSpc>
          <a:spcPct val="140000"/>
        </a:lnSpc>
        <a:spcBef>
          <a:spcPts val="1000"/>
        </a:spcBef>
        <a:spcAft>
          <a:spcPct val="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Helvetica Light"/>
          <a:ea typeface="Geneva" pitchFamily="123" charset="-128"/>
          <a:cs typeface="Helvetica Light"/>
        </a:defRPr>
      </a:lvl1pPr>
      <a:lvl2pPr marL="228600" indent="136525" algn="l" defTabSz="457200" rtl="0" eaLnBrk="1" fontAlgn="base" hangingPunct="1">
        <a:lnSpc>
          <a:spcPct val="140000"/>
        </a:lnSpc>
        <a:spcBef>
          <a:spcPts val="1000"/>
        </a:spcBef>
        <a:spcAft>
          <a:spcPct val="0"/>
        </a:spcAft>
        <a:buFont typeface="Lucida Grande" pitchFamily="123" charset="0"/>
        <a:buChar char="–"/>
        <a:defRPr sz="1200" kern="1200">
          <a:solidFill>
            <a:schemeClr val="tx1"/>
          </a:solidFill>
          <a:latin typeface="Helvetica Light"/>
          <a:ea typeface="Geneva" pitchFamily="123" charset="-128"/>
          <a:cs typeface="Helvetica Light"/>
        </a:defRPr>
      </a:lvl2pPr>
      <a:lvl3pPr marL="457200" indent="136525" algn="l" defTabSz="457200" rtl="0" eaLnBrk="1" fontAlgn="base" hangingPunct="1">
        <a:lnSpc>
          <a:spcPct val="140000"/>
        </a:lnSpc>
        <a:spcBef>
          <a:spcPts val="1000"/>
        </a:spcBef>
        <a:spcAft>
          <a:spcPct val="0"/>
        </a:spcAft>
        <a:buFont typeface="Lucida Grande" pitchFamily="123" charset="0"/>
        <a:buChar char="–"/>
        <a:defRPr sz="1200" kern="1200">
          <a:solidFill>
            <a:schemeClr val="tx1"/>
          </a:solidFill>
          <a:latin typeface="Helvetica Light"/>
          <a:ea typeface="Geneva" pitchFamily="123" charset="-128"/>
          <a:cs typeface="Helvetica Light"/>
        </a:defRPr>
      </a:lvl3pPr>
      <a:lvl4pPr marL="685800" indent="136525" algn="l" defTabSz="457200" rtl="0" eaLnBrk="1" fontAlgn="base" hangingPunct="1">
        <a:lnSpc>
          <a:spcPct val="140000"/>
        </a:lnSpc>
        <a:spcBef>
          <a:spcPts val="1000"/>
        </a:spcBef>
        <a:spcAft>
          <a:spcPct val="0"/>
        </a:spcAft>
        <a:buFont typeface="Lucida Grande" pitchFamily="123" charset="0"/>
        <a:buChar char="–"/>
        <a:defRPr sz="1200" kern="1200">
          <a:solidFill>
            <a:schemeClr val="tx1"/>
          </a:solidFill>
          <a:latin typeface="Helvetica Light"/>
          <a:ea typeface="Geneva" pitchFamily="123" charset="-128"/>
          <a:cs typeface="Helvetica Light"/>
        </a:defRPr>
      </a:lvl4pPr>
      <a:lvl5pPr marL="914400" indent="136525" algn="l" defTabSz="457200" rtl="0" eaLnBrk="1" fontAlgn="base" hangingPunct="1">
        <a:lnSpc>
          <a:spcPct val="140000"/>
        </a:lnSpc>
        <a:spcBef>
          <a:spcPts val="1000"/>
        </a:spcBef>
        <a:spcAft>
          <a:spcPct val="0"/>
        </a:spcAft>
        <a:buFont typeface="Lucida Grande" pitchFamily="123" charset="0"/>
        <a:buChar char="–"/>
        <a:defRPr sz="1200" kern="1200">
          <a:solidFill>
            <a:schemeClr val="tx1"/>
          </a:solidFill>
          <a:latin typeface="Helvetica Light"/>
          <a:ea typeface="Geneva" pitchFamily="123" charset="-128"/>
          <a:cs typeface="Helvetica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HUB@utsouthwestern.edu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528451" y="2236030"/>
            <a:ext cx="8241477" cy="160629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Pre-Submittal Conference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CUH 4.219 Microbiology Lab Expansion Phase II (BSL-3)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FY2026-RFP-HC-00915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28451" y="4024415"/>
            <a:ext cx="7308056" cy="2439169"/>
          </a:xfrm>
        </p:spPr>
        <p:txBody>
          <a:bodyPr/>
          <a:lstStyle/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Marcus Howard</a:t>
            </a:r>
          </a:p>
          <a:p>
            <a:r>
              <a:rPr lang="en-US" sz="1800" dirty="0"/>
              <a:t>Sourcing &amp; Contracting Specialist CTCD, CTCM</a:t>
            </a:r>
          </a:p>
          <a:p>
            <a:r>
              <a:rPr lang="en-US" sz="1800" dirty="0"/>
              <a:t>Marcus.Howard@UTsouthwestern.edu</a:t>
            </a:r>
          </a:p>
          <a:p>
            <a:r>
              <a:rPr lang="en-US" sz="1800" dirty="0"/>
              <a:t>April 1,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466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4000" cy="10209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 compatLnSpc="1">
            <a:prstTxWarp prst="textNoShape">
              <a:avLst/>
            </a:prstTxWarp>
          </a:bodyPr>
          <a:lstStyle/>
          <a:p>
            <a:pPr algn="ctr">
              <a:spcAft>
                <a:spcPct val="0"/>
              </a:spcAft>
            </a:pPr>
            <a:r>
              <a:rPr lang="en-US" altLang="en-US" sz="2800" dirty="0"/>
              <a:t>Scope of Services Overview</a:t>
            </a:r>
            <a:endParaRPr lang="en-US" altLang="en-US" sz="2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EB5B6C-31E4-4060-944B-5DA19028D6C0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Helvetica" panose="020B0604020202020204" pitchFamily="34" charset="0"/>
                <a:ea typeface="Geneva" pitchFamily="123" charset="-128"/>
                <a:cs typeface="+mn-cs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Helvetica" panose="020B0604020202020204" pitchFamily="34" charset="0"/>
              <a:ea typeface="Geneva" pitchFamily="123" charset="-128"/>
              <a:cs typeface="+mn-cs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59344" y="1677158"/>
            <a:ext cx="8225312" cy="3919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28600" indent="-228600">
              <a:lnSpc>
                <a:spcPts val="2400"/>
              </a:lnSpc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28600">
              <a:lnSpc>
                <a:spcPts val="2200"/>
              </a:lnSpc>
              <a:buSzPct val="65000"/>
              <a:buFont typeface="Wingdings" panose="05000000000000000000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Helvetica Light"/>
              </a:rPr>
              <a:t>Specifications &amp; Scope</a:t>
            </a:r>
            <a:r>
              <a:rPr lang="en-US" sz="1800" dirty="0">
                <a:latin typeface="Helvetica Light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The scope of this project includes renovation of an existing Histology Laboratory Open Lab into a Microbiology Lab with supporting workspace and AFB BSL-3 Laboratory space.</a:t>
            </a:r>
            <a:endParaRPr lang="en-U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Helvetica Light"/>
              </a:rPr>
              <a:t>Delivery: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Time is an essential element on all orders for jobs/projects. Failure to notify UTSW of any inability to complete a job/project on schedule grants UTSW the right to cancel order, purchase from best available source, and charge contractor the difference between contract price and actual purchase.</a:t>
            </a:r>
          </a:p>
        </p:txBody>
      </p:sp>
    </p:spTree>
    <p:extLst>
      <p:ext uri="{BB962C8B-B14F-4D97-AF65-F5344CB8AC3E}">
        <p14:creationId xmlns:p14="http://schemas.microsoft.com/office/powerpoint/2010/main" val="1629355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9pPr>
          </a:lstStyle>
          <a:p>
            <a:fld id="{AB2A4F52-FC93-4C92-8CBB-6C6CC827169C}" type="slidenum">
              <a:rPr lang="en-US" altLang="en-US">
                <a:solidFill>
                  <a:srgbClr val="7F7F7F"/>
                </a:solidFill>
                <a:latin typeface="Helvetica" panose="020B0604020202020204" pitchFamily="34" charset="0"/>
              </a:rPr>
              <a:pPr/>
              <a:t>3</a:t>
            </a:fld>
            <a:endParaRPr lang="en-US" altLang="en-US" dirty="0">
              <a:solidFill>
                <a:srgbClr val="7F7F7F"/>
              </a:solidFill>
              <a:latin typeface="Helvetica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auto">
          <a:xfrm>
            <a:off x="45707" y="106879"/>
            <a:ext cx="9027041" cy="72439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 compatLnSpc="1">
            <a:prstTxWarp prst="textNoShape">
              <a:avLst/>
            </a:prstTxWarp>
          </a:bodyPr>
          <a:lstStyle/>
          <a:p>
            <a:pPr algn="ctr" eaLnBrk="1" hangingPunct="1">
              <a:spcAft>
                <a:spcPct val="0"/>
              </a:spcAft>
            </a:pPr>
            <a:r>
              <a:rPr lang="en-US" alt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Question Group 1</a:t>
            </a:r>
            <a:endParaRPr lang="en-US" altLang="en-US" sz="2800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289822"/>
              </p:ext>
            </p:extLst>
          </p:nvPr>
        </p:nvGraphicFramePr>
        <p:xfrm>
          <a:off x="323273" y="1099574"/>
          <a:ext cx="8506692" cy="50056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35">
                  <a:extLst>
                    <a:ext uri="{9D8B030D-6E8A-4147-A177-3AD203B41FA5}">
                      <a16:colId xmlns:a16="http://schemas.microsoft.com/office/drawing/2014/main" val="399014227"/>
                    </a:ext>
                  </a:extLst>
                </a:gridCol>
                <a:gridCol w="4663197">
                  <a:extLst>
                    <a:ext uri="{9D8B030D-6E8A-4147-A177-3AD203B41FA5}">
                      <a16:colId xmlns:a16="http://schemas.microsoft.com/office/drawing/2014/main" val="1813709957"/>
                    </a:ext>
                  </a:extLst>
                </a:gridCol>
                <a:gridCol w="2987360">
                  <a:extLst>
                    <a:ext uri="{9D8B030D-6E8A-4147-A177-3AD203B41FA5}">
                      <a16:colId xmlns:a16="http://schemas.microsoft.com/office/drawing/2014/main" val="132928543"/>
                    </a:ext>
                  </a:extLst>
                </a:gridCol>
              </a:tblGrid>
              <a:tr h="51331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Helvetica Light"/>
                        </a:rPr>
                        <a:t>#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Helvetica Light"/>
                        </a:rPr>
                        <a:t>Question</a:t>
                      </a:r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Helvetica Light"/>
                        </a:rPr>
                        <a:t> 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 Ligh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Helvetica Light"/>
                        </a:rPr>
                        <a:t>Response Type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61012"/>
                  </a:ext>
                </a:extLst>
              </a:tr>
              <a:tr h="61374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1.1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Helvetica Light"/>
                        </a:rPr>
                        <a:t>Agree</a:t>
                      </a:r>
                      <a:r>
                        <a:rPr lang="en-US" sz="1600" baseline="0" dirty="0">
                          <a:latin typeface="Helvetica Light"/>
                        </a:rPr>
                        <a:t> to Complete All Responses</a:t>
                      </a:r>
                      <a:endParaRPr lang="en-US" sz="1600" dirty="0">
                        <a:latin typeface="Helvetica Ligh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Multiple</a:t>
                      </a:r>
                      <a:r>
                        <a:rPr lang="en-US" sz="1600" baseline="0" dirty="0">
                          <a:latin typeface="Helvetica Light"/>
                        </a:rPr>
                        <a:t> Choice</a:t>
                      </a:r>
                      <a:endParaRPr lang="en-US" sz="1600" dirty="0">
                        <a:latin typeface="Helvetica Ligh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32227"/>
                  </a:ext>
                </a:extLst>
              </a:tr>
              <a:tr h="61374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1.2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Standard Master Services Agreement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Text</a:t>
                      </a:r>
                      <a:r>
                        <a:rPr lang="en-US" sz="1600" baseline="0" dirty="0">
                          <a:latin typeface="Helvetica Light"/>
                        </a:rPr>
                        <a:t> (Multi-Line)</a:t>
                      </a:r>
                      <a:endParaRPr lang="en-US" sz="1600" dirty="0">
                        <a:latin typeface="Helvetica Ligh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689689"/>
                  </a:ext>
                </a:extLst>
              </a:tr>
              <a:tr h="6016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1.3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Standard Project Agreement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File Upload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243655"/>
                  </a:ext>
                </a:extLst>
              </a:tr>
              <a:tr h="5485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1.4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Franchise Tax Certification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Yes/No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447834"/>
                  </a:ext>
                </a:extLst>
              </a:tr>
              <a:tr h="5110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1.5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Eligibility</a:t>
                      </a:r>
                      <a:r>
                        <a:rPr lang="en-US" sz="1600" b="0" baseline="0" dirty="0">
                          <a:latin typeface="Helvetica Light"/>
                        </a:rPr>
                        <a:t> to Receive Award/Payment.</a:t>
                      </a:r>
                      <a:endParaRPr lang="en-US" sz="1600" b="0" dirty="0">
                        <a:latin typeface="Helvetica Ligh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Yes/No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522672"/>
                  </a:ext>
                </a:extLst>
              </a:tr>
              <a:tr h="5345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1.6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VetHUB Subcontracting Plan (HSP)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File Upload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82827"/>
                  </a:ext>
                </a:extLst>
              </a:tr>
              <a:tr h="5345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1.7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HSP Progress Assessment Report (PAR)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Helvetica Light"/>
                        </a:rPr>
                        <a:t>File Upload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857272"/>
                  </a:ext>
                </a:extLst>
              </a:tr>
              <a:tr h="5345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1.8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Schedule of Values (SOV)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Text (Single-Line)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841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2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9pPr>
          </a:lstStyle>
          <a:p>
            <a:fld id="{AB2A4F52-FC93-4C92-8CBB-6C6CC827169C}" type="slidenum">
              <a:rPr lang="en-US" altLang="en-US">
                <a:solidFill>
                  <a:srgbClr val="7F7F7F"/>
                </a:solidFill>
                <a:latin typeface="Helvetica" panose="020B0604020202020204" pitchFamily="34" charset="0"/>
              </a:rPr>
              <a:pPr/>
              <a:t>4</a:t>
            </a:fld>
            <a:endParaRPr lang="en-US" altLang="en-US" dirty="0">
              <a:solidFill>
                <a:srgbClr val="7F7F7F"/>
              </a:solidFill>
              <a:latin typeface="Helvetica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auto">
          <a:xfrm>
            <a:off x="45707" y="106879"/>
            <a:ext cx="9027041" cy="72439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 compatLnSpc="1">
            <a:prstTxWarp prst="textNoShape">
              <a:avLst/>
            </a:prstTxWarp>
          </a:bodyPr>
          <a:lstStyle/>
          <a:p>
            <a:pPr algn="ctr" eaLnBrk="1" hangingPunct="1">
              <a:spcAft>
                <a:spcPct val="0"/>
              </a:spcAft>
            </a:pPr>
            <a:r>
              <a:rPr lang="en-US" alt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Question Group 2</a:t>
            </a:r>
            <a:endParaRPr lang="en-US" altLang="en-US" sz="2800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251055"/>
              </p:ext>
            </p:extLst>
          </p:nvPr>
        </p:nvGraphicFramePr>
        <p:xfrm>
          <a:off x="323273" y="1099574"/>
          <a:ext cx="8506692" cy="5162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35">
                  <a:extLst>
                    <a:ext uri="{9D8B030D-6E8A-4147-A177-3AD203B41FA5}">
                      <a16:colId xmlns:a16="http://schemas.microsoft.com/office/drawing/2014/main" val="399014227"/>
                    </a:ext>
                  </a:extLst>
                </a:gridCol>
                <a:gridCol w="4663197">
                  <a:extLst>
                    <a:ext uri="{9D8B030D-6E8A-4147-A177-3AD203B41FA5}">
                      <a16:colId xmlns:a16="http://schemas.microsoft.com/office/drawing/2014/main" val="1813709957"/>
                    </a:ext>
                  </a:extLst>
                </a:gridCol>
                <a:gridCol w="2987360">
                  <a:extLst>
                    <a:ext uri="{9D8B030D-6E8A-4147-A177-3AD203B41FA5}">
                      <a16:colId xmlns:a16="http://schemas.microsoft.com/office/drawing/2014/main" val="132928543"/>
                    </a:ext>
                  </a:extLst>
                </a:gridCol>
              </a:tblGrid>
              <a:tr h="59271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Helvetica Light"/>
                        </a:rPr>
                        <a:t>#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Helvetica Light"/>
                        </a:rPr>
                        <a:t>Question</a:t>
                      </a:r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Helvetica Light"/>
                        </a:rPr>
                        <a:t> 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 Ligh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Helvetica Light"/>
                        </a:rPr>
                        <a:t>Response Type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61012"/>
                  </a:ext>
                </a:extLst>
              </a:tr>
              <a:tr h="7086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2.1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Helvetica Light"/>
                        </a:rPr>
                        <a:t>Safety</a:t>
                      </a:r>
                      <a:r>
                        <a:rPr lang="en-US" sz="1600" baseline="0" dirty="0">
                          <a:latin typeface="Helvetica Light"/>
                        </a:rPr>
                        <a:t> Management Program</a:t>
                      </a:r>
                      <a:endParaRPr lang="en-US" sz="1600" dirty="0">
                        <a:latin typeface="Helvetica Ligh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File Upload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32227"/>
                  </a:ext>
                </a:extLst>
              </a:tr>
              <a:tr h="7086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2.2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Ability to Provide Construction Services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File Upload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689689"/>
                  </a:ext>
                </a:extLst>
              </a:tr>
              <a:tr h="6947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2.3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Qualifications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File Upload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243655"/>
                  </a:ext>
                </a:extLst>
              </a:tr>
              <a:tr h="633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2.4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Past Performance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File Upload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447834"/>
                  </a:ext>
                </a:extLst>
              </a:tr>
              <a:tr h="59006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2.5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Quality Control/Commissioning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File Upload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522672"/>
                  </a:ext>
                </a:extLst>
              </a:tr>
              <a:tr h="6172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2.6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Pricing &amp; Delivery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File Upload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82827"/>
                  </a:ext>
                </a:extLst>
              </a:tr>
              <a:tr h="6172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 Light"/>
                        </a:rPr>
                        <a:t>2.7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Helvetica Light"/>
                        </a:rPr>
                        <a:t>Questionnaire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Helvetica Light"/>
                        </a:rPr>
                        <a:t>File Upload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857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18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 bwMode="auto">
          <a:xfrm>
            <a:off x="73570" y="100940"/>
            <a:ext cx="9144000" cy="92491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 compatLnSpc="1">
            <a:prstTxWarp prst="textNoShape">
              <a:avLst/>
            </a:prstTxWarp>
          </a:bodyPr>
          <a:lstStyle/>
          <a:p>
            <a:pPr algn="ctr" eaLnBrk="1" hangingPunct="1">
              <a:spcAft>
                <a:spcPct val="0"/>
              </a:spcAft>
            </a:pPr>
            <a:r>
              <a:rPr lang="en-US" alt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Important Procurement Dates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9pPr>
          </a:lstStyle>
          <a:p>
            <a:fld id="{8EEB5B6C-31E4-4060-944B-5DA19028D6C0}" type="slidenum">
              <a:rPr lang="en-US" altLang="en-US">
                <a:solidFill>
                  <a:srgbClr val="7F7F7F"/>
                </a:solidFill>
                <a:latin typeface="Helvetica" panose="020B0604020202020204" pitchFamily="34" charset="0"/>
              </a:rPr>
              <a:pPr/>
              <a:t>5</a:t>
            </a:fld>
            <a:endParaRPr lang="en-US" altLang="en-US" dirty="0">
              <a:solidFill>
                <a:srgbClr val="7F7F7F"/>
              </a:solidFill>
              <a:latin typeface="Helvetica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69119"/>
              </p:ext>
            </p:extLst>
          </p:nvPr>
        </p:nvGraphicFramePr>
        <p:xfrm>
          <a:off x="416462" y="1099742"/>
          <a:ext cx="8321137" cy="49923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215">
                  <a:extLst>
                    <a:ext uri="{9D8B030D-6E8A-4147-A177-3AD203B41FA5}">
                      <a16:colId xmlns:a16="http://schemas.microsoft.com/office/drawing/2014/main" val="38682595"/>
                    </a:ext>
                  </a:extLst>
                </a:gridCol>
                <a:gridCol w="4269922">
                  <a:extLst>
                    <a:ext uri="{9D8B030D-6E8A-4147-A177-3AD203B41FA5}">
                      <a16:colId xmlns:a16="http://schemas.microsoft.com/office/drawing/2014/main" val="2233118874"/>
                    </a:ext>
                  </a:extLst>
                </a:gridCol>
              </a:tblGrid>
              <a:tr h="53509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Helvetica Light"/>
                        </a:rPr>
                        <a:t>EVENT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Helvetica Light"/>
                        </a:rPr>
                        <a:t>DATE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  <a:latin typeface="Helvetica Light"/>
                        </a:rPr>
                        <a:t> &amp;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Helvetica Light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016945"/>
                  </a:ext>
                </a:extLst>
              </a:tr>
              <a:tr h="811568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Helvetica Light"/>
                        </a:rPr>
                        <a:t>Issue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Helvetica Light"/>
                        </a:rPr>
                        <a:t>March 18, 2026, 3:00PM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0499587"/>
                  </a:ext>
                </a:extLst>
              </a:tr>
              <a:tr h="811568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Helvetica Light"/>
                        </a:rPr>
                        <a:t>Pre-Proposal</a:t>
                      </a:r>
                      <a:r>
                        <a:rPr lang="en-US" sz="1800" baseline="0" dirty="0">
                          <a:latin typeface="Helvetica Light"/>
                        </a:rPr>
                        <a:t> </a:t>
                      </a:r>
                      <a:r>
                        <a:rPr lang="en-US" sz="1800" dirty="0">
                          <a:latin typeface="Helvetica Light"/>
                        </a:rPr>
                        <a:t>Conference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aseline="0" dirty="0">
                          <a:latin typeface="Helvetica Light"/>
                        </a:rPr>
                        <a:t>April 1, 2026, 10:00AM</a:t>
                      </a:r>
                      <a:endParaRPr lang="en-US" sz="1800" dirty="0">
                        <a:latin typeface="Helvetica Ligh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9262936"/>
                  </a:ext>
                </a:extLst>
              </a:tr>
              <a:tr h="811568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Deadline for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aseline="0" dirty="0">
                        <a:solidFill>
                          <a:schemeClr val="tx1"/>
                        </a:solidFill>
                        <a:latin typeface="Helvetica Light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Helvetica Light"/>
                        </a:rPr>
                        <a:t>April 17, 2026, 4:00PM</a:t>
                      </a:r>
                      <a:endParaRPr lang="en-US" sz="1800" dirty="0">
                        <a:solidFill>
                          <a:schemeClr val="tx1"/>
                        </a:solidFill>
                        <a:latin typeface="Helvetica Light"/>
                      </a:endParaRPr>
                    </a:p>
                    <a:p>
                      <a:pPr algn="l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3125135"/>
                  </a:ext>
                </a:extLst>
              </a:tr>
              <a:tr h="95985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Helvetica Light"/>
                        </a:rPr>
                        <a:t>Deadline for Proposals &amp; HSP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Helvetica Light"/>
                        </a:rPr>
                        <a:t>May 1, 2026, 4:00PM</a:t>
                      </a:r>
                      <a:endParaRPr lang="en-US" sz="1800" dirty="0">
                        <a:solidFill>
                          <a:schemeClr val="tx1"/>
                        </a:solidFill>
                        <a:latin typeface="Helvetica Ligh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5613618"/>
                  </a:ext>
                </a:extLst>
              </a:tr>
              <a:tr h="95985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Helvetica Light"/>
                        </a:rPr>
                        <a:t>Contract Award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Helvetica Light"/>
                        </a:rPr>
                        <a:t>May 15, 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81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60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15999"/>
          </a:xfrm>
        </p:spPr>
        <p:txBody>
          <a:bodyPr anchor="ctr"/>
          <a:lstStyle/>
          <a:p>
            <a:pPr algn="ctr"/>
            <a:r>
              <a:rPr lang="en-US" sz="2400" dirty="0"/>
              <a:t>Veteran Heroes United in Business (VetHUB)</a:t>
            </a:r>
            <a:br>
              <a:rPr lang="en-US" sz="2400" dirty="0"/>
            </a:br>
            <a:r>
              <a:rPr lang="en-US" sz="2400" dirty="0"/>
              <a:t>HUB Subcontracting Plan (HSP)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0864" y="24623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47E8BD-7BA3-ADD8-8964-772BBDDBF3B5}"/>
              </a:ext>
            </a:extLst>
          </p:cNvPr>
          <p:cNvSpPr txBox="1"/>
          <p:nvPr/>
        </p:nvSpPr>
        <p:spPr>
          <a:xfrm>
            <a:off x="310896" y="1281175"/>
            <a:ext cx="8522208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835" marR="143510" indent="-457835">
              <a:lnSpc>
                <a:spcPts val="3600"/>
              </a:lnSpc>
              <a:buFont typeface="+mj-lt"/>
              <a:buAutoNum type="arabicPeriod"/>
              <a:tabLst>
                <a:tab pos="457835" algn="l"/>
              </a:tabLst>
            </a:pPr>
            <a:r>
              <a:rPr lang="en-US" sz="1800" spc="-3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spc="-7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f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or</a:t>
            </a:r>
            <a:r>
              <a:rPr lang="en-US" sz="1800" spc="-6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m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spc="-4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 </a:t>
            </a:r>
            <a:r>
              <a:rPr lang="en-US" sz="1800" spc="-8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g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</a:t>
            </a:r>
            <a:r>
              <a:rPr lang="en-US" sz="1800" spc="-7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d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spc="-4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g H</a:t>
            </a:r>
            <a:r>
              <a:rPr lang="en-US" sz="1800" spc="-4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c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 </a:t>
            </a:r>
            <a:r>
              <a:rPr lang="en-US" sz="1800" spc="-7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b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f</a:t>
            </a:r>
            <a:r>
              <a:rPr lang="en-US" sz="1800" spc="-4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ou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spc="-7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d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i</a:t>
            </a:r>
            <a:r>
              <a:rPr lang="en-US" sz="1800" spc="-4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t</a:t>
            </a:r>
            <a:r>
              <a:rPr lang="en-US" sz="1800" spc="-4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h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800" spc="-1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spc="-7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q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u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spc="-5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 f</a:t>
            </a:r>
            <a:r>
              <a:rPr lang="en-US" sz="1800" spc="-4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 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800" spc="-8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spc="-7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spc="-5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l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ts val="1880"/>
              </a:lnSpc>
              <a:spcBef>
                <a:spcPts val="1700"/>
              </a:spcBef>
              <a:buNone/>
              <a:tabLst>
                <a:tab pos="346075" algn="l"/>
                <a:tab pos="803910" algn="l"/>
              </a:tabLst>
            </a:pPr>
            <a:r>
              <a:rPr lang="en-US" sz="1400" i="1" dirty="0">
                <a:solidFill>
                  <a:srgbClr val="000000"/>
                </a:solidFill>
                <a:effectLst/>
                <a:latin typeface="ArialNova-LightItalic"/>
                <a:ea typeface="Times New Roman" panose="02020603050405020304" pitchFamily="18" charset="0"/>
                <a:cs typeface="ArialNova-LightItalic"/>
              </a:rPr>
              <a:t> 	 	</a:t>
            </a:r>
            <a:r>
              <a:rPr lang="en-US" sz="1200" spc="-4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C</a:t>
            </a:r>
            <a:r>
              <a:rPr lang="en-US" sz="12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2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m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200" spc="-6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l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200" spc="-4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 t</a:t>
            </a:r>
            <a:r>
              <a:rPr lang="en-US" sz="1200" spc="-1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h</a:t>
            </a:r>
            <a:r>
              <a:rPr lang="en-US" sz="1200" spc="-8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t</a:t>
            </a:r>
            <a:r>
              <a:rPr lang="en-US" sz="1200" spc="-8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2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m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200" spc="-6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l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200" spc="-4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 t</a:t>
            </a:r>
            <a:r>
              <a:rPr lang="en-US" sz="1200" spc="-1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h</a:t>
            </a:r>
            <a:r>
              <a:rPr lang="en-US" sz="1200" spc="-8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 </a:t>
            </a:r>
            <a:r>
              <a:rPr lang="en-US" sz="1200" spc="-1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h</a:t>
            </a:r>
            <a:r>
              <a:rPr lang="en-US" sz="1200" spc="-8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 </a:t>
            </a:r>
            <a:r>
              <a:rPr lang="en-US" sz="1200" spc="-4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b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ee</a:t>
            </a:r>
            <a:r>
              <a:rPr lang="en-US" sz="1200" spc="-1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200" spc="-4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2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</a:t>
            </a:r>
            <a:r>
              <a:rPr lang="en-US" sz="12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vi</a:t>
            </a:r>
            <a:r>
              <a:rPr lang="en-US" sz="1200" spc="-4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d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200" spc="-4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d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2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w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200" spc="-4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</a:t>
            </a:r>
            <a:r>
              <a:rPr lang="en-US" sz="1200" spc="-1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h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200" spc="-1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200" spc="-5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Q</a:t>
            </a:r>
            <a:r>
              <a:rPr lang="en-US" sz="1200" spc="-1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u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es</a:t>
            </a:r>
            <a:r>
              <a:rPr lang="en-US" sz="1200" spc="-4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2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200" spc="-1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200" spc="-4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1</a:t>
            </a:r>
            <a:r>
              <a:rPr lang="en-US" sz="1200" spc="-2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.</a:t>
            </a:r>
            <a:r>
              <a:rPr lang="en-US" sz="12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6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ts val="2415"/>
              </a:lnSpc>
              <a:spcBef>
                <a:spcPts val="1200"/>
              </a:spcBef>
              <a:buNone/>
              <a:tabLst>
                <a:tab pos="457835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2.	R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ea</a:t>
            </a:r>
            <a:r>
              <a:rPr lang="en-US" sz="1800" spc="-7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d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t</a:t>
            </a:r>
            <a:r>
              <a:rPr lang="en-US" sz="1800" spc="-3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h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q</a:t>
            </a:r>
            <a:r>
              <a:rPr lang="en-US" sz="1800" spc="-3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u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ic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k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c</a:t>
            </a:r>
            <a:r>
              <a:rPr lang="en-US" sz="1800" spc="-4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h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c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k</a:t>
            </a:r>
            <a:r>
              <a:rPr lang="en-US" sz="1800" spc="-3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l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spc="-5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 </a:t>
            </a:r>
            <a:r>
              <a:rPr lang="en-US" sz="1800" spc="-6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 </a:t>
            </a:r>
            <a:r>
              <a:rPr lang="en-US" sz="1800" spc="-7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d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</a:t>
            </a:r>
            <a:r>
              <a:rPr lang="en-US" sz="1800" spc="-6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m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spc="-3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w</a:t>
            </a:r>
            <a:r>
              <a:rPr lang="en-US" sz="1800" spc="-3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h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spc="-8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c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h </a:t>
            </a:r>
            <a:r>
              <a:rPr lang="en-US" sz="1800" spc="-6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H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M</a:t>
            </a:r>
            <a:r>
              <a:rPr lang="en-US" sz="1800" spc="-1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</a:t>
            </a:r>
            <a:r>
              <a:rPr lang="en-US" sz="1800" spc="-3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h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spc="-7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d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t</a:t>
            </a:r>
            <a:r>
              <a:rPr lang="en-US" sz="1800" spc="-4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co</a:t>
            </a:r>
            <a:r>
              <a:rPr lang="en-US" sz="1800" spc="-6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m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le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</a:t>
            </a:r>
            <a:r>
              <a:rPr lang="en-US" sz="1800" spc="-1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 marR="0">
              <a:lnSpc>
                <a:spcPts val="1370"/>
              </a:lnSpc>
              <a:spcBef>
                <a:spcPts val="1500"/>
              </a:spcBef>
              <a:buNone/>
              <a:tabLst>
                <a:tab pos="346075" algn="l"/>
                <a:tab pos="803910" algn="l"/>
              </a:tabLst>
            </a:pP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	 	</a:t>
            </a:r>
            <a:r>
              <a:rPr lang="en-US" sz="1050" spc="-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spc="-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Me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4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el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ct</a:t>
            </a:r>
            <a:r>
              <a:rPr lang="en-US" sz="1050" spc="-4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—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select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b="1" spc="-45" dirty="0">
                <a:solidFill>
                  <a:srgbClr val="000000"/>
                </a:solidFill>
                <a:effectLst/>
                <a:latin typeface="Aptos-Bold"/>
                <a:ea typeface="Times New Roman" panose="02020603050405020304" pitchFamily="18" charset="0"/>
                <a:cs typeface="Aptos-Bold"/>
              </a:rPr>
              <a:t>o</a:t>
            </a:r>
            <a:r>
              <a:rPr lang="en-US" sz="1050" b="1" dirty="0">
                <a:solidFill>
                  <a:srgbClr val="000000"/>
                </a:solidFill>
                <a:effectLst/>
                <a:latin typeface="Aptos-Bold"/>
                <a:ea typeface="Times New Roman" panose="02020603050405020304" pitchFamily="18" charset="0"/>
                <a:cs typeface="Aptos-Bold"/>
              </a:rPr>
              <a:t>n</a:t>
            </a:r>
            <a:r>
              <a:rPr lang="en-US" sz="1050" b="1" spc="-30" dirty="0">
                <a:solidFill>
                  <a:srgbClr val="000000"/>
                </a:solidFill>
                <a:effectLst/>
                <a:latin typeface="Aptos-Bold"/>
                <a:ea typeface="Times New Roman" panose="02020603050405020304" pitchFamily="18" charset="0"/>
                <a:cs typeface="Aptos-Bold"/>
              </a:rPr>
              <a:t>e</a:t>
            </a:r>
            <a:r>
              <a:rPr lang="en-US" sz="1050" b="1" dirty="0">
                <a:solidFill>
                  <a:srgbClr val="000000"/>
                </a:solidFill>
                <a:effectLst/>
                <a:latin typeface="Aptos-Bold"/>
                <a:ea typeface="Times New Roman" panose="02020603050405020304" pitchFamily="18" charset="0"/>
                <a:cs typeface="Aptos-Bold"/>
              </a:rPr>
              <a:t> 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 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f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ll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w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g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</a:t>
            </a:r>
            <a:r>
              <a:rPr lang="en-US" sz="10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3910" marR="143510">
              <a:lnSpc>
                <a:spcPts val="2780"/>
              </a:lnSpc>
              <a:spcBef>
                <a:spcPts val="75"/>
              </a:spcBef>
              <a:buNone/>
              <a:tabLst>
                <a:tab pos="1032510" algn="l"/>
              </a:tabLst>
            </a:pPr>
            <a:r>
              <a:rPr lang="en-US" sz="1050" dirty="0">
                <a:solidFill>
                  <a:srgbClr val="000000"/>
                </a:solidFill>
                <a:effectLst/>
                <a:latin typeface="Wingdings-Regular"/>
                <a:ea typeface="Times New Roman" panose="02020603050405020304" pitchFamily="18" charset="0"/>
                <a:cs typeface="Wingdings-Regular"/>
              </a:rPr>
              <a:t>▪	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 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—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4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ele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 t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</a:t>
            </a:r>
            <a:r>
              <a:rPr lang="en-US" sz="1050" spc="-4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o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i</a:t>
            </a:r>
            <a:r>
              <a:rPr lang="en-US" sz="1050" spc="-4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y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i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4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ie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a</a:t>
            </a:r>
            <a:r>
              <a:rPr lang="en-US" sz="1050" spc="-1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V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spc="-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 t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ca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er</a:t>
            </a:r>
            <a:r>
              <a:rPr lang="en-US" sz="1050" spc="-4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rm 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spc="-3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tra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spc="-4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g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pp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rt</a:t>
            </a:r>
            <a:r>
              <a:rPr lang="en-US" sz="1050" spc="-3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ie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r>
              <a:rPr lang="en-US" sz="10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0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rgbClr val="000000"/>
                </a:solidFill>
                <a:effectLst/>
                <a:latin typeface="Wingdings-Regular"/>
                <a:ea typeface="Times New Roman" panose="02020603050405020304" pitchFamily="18" charset="0"/>
                <a:cs typeface="Wingdings-Regular"/>
              </a:rPr>
              <a:t>▪	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 </a:t>
            </a:r>
            <a:r>
              <a:rPr lang="en-US" sz="1050" spc="-8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—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4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ele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 t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</a:t>
            </a:r>
            <a:r>
              <a:rPr lang="en-US" sz="1050" spc="-4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o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i</a:t>
            </a:r>
            <a:r>
              <a:rPr lang="en-US" sz="1050" spc="-4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y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b="1" dirty="0">
                <a:solidFill>
                  <a:srgbClr val="000000"/>
                </a:solidFill>
                <a:effectLst/>
                <a:latin typeface="Aptos-Bold"/>
                <a:ea typeface="Times New Roman" panose="02020603050405020304" pitchFamily="18" charset="0"/>
                <a:cs typeface="Aptos-Bold"/>
              </a:rPr>
              <a:t>di</a:t>
            </a:r>
            <a:r>
              <a:rPr lang="en-US" sz="1050" b="1" spc="-65" dirty="0">
                <a:solidFill>
                  <a:srgbClr val="000000"/>
                </a:solidFill>
                <a:effectLst/>
                <a:latin typeface="Aptos-Bold"/>
                <a:ea typeface="Times New Roman" panose="02020603050405020304" pitchFamily="18" charset="0"/>
                <a:cs typeface="Aptos-Bold"/>
              </a:rPr>
              <a:t>d</a:t>
            </a:r>
            <a:r>
              <a:rPr lang="en-US" sz="1050" b="1" dirty="0">
                <a:solidFill>
                  <a:srgbClr val="000000"/>
                </a:solidFill>
                <a:effectLst/>
                <a:latin typeface="Aptos-Bold"/>
                <a:ea typeface="Times New Roman" panose="02020603050405020304" pitchFamily="18" charset="0"/>
                <a:cs typeface="Aptos-Bold"/>
              </a:rPr>
              <a:t> n</a:t>
            </a:r>
            <a:r>
              <a:rPr lang="en-US" sz="1050" b="1" spc="-50" dirty="0">
                <a:solidFill>
                  <a:srgbClr val="000000"/>
                </a:solidFill>
                <a:effectLst/>
                <a:latin typeface="Aptos-Bold"/>
                <a:ea typeface="Times New Roman" panose="02020603050405020304" pitchFamily="18" charset="0"/>
                <a:cs typeface="Aptos-Bold"/>
              </a:rPr>
              <a:t>o</a:t>
            </a:r>
            <a:r>
              <a:rPr lang="en-US" sz="1050" b="1" dirty="0">
                <a:solidFill>
                  <a:srgbClr val="000000"/>
                </a:solidFill>
                <a:effectLst/>
                <a:latin typeface="Aptos-Bold"/>
                <a:ea typeface="Times New Roman" panose="02020603050405020304" pitchFamily="18" charset="0"/>
                <a:cs typeface="Aptos-Bold"/>
              </a:rPr>
              <a:t>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i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4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y a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V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spc="-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 ca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 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er</a:t>
            </a:r>
            <a:r>
              <a:rPr lang="en-US" sz="1050" spc="-4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rm</a:t>
            </a:r>
            <a:r>
              <a:rPr lang="en-US" sz="1050" spc="-4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ng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s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ub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spc="-8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act</a:t>
            </a:r>
            <a:r>
              <a:rPr lang="en-US" sz="1050" spc="-4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ng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o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pp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rt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spc="-4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ti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r>
              <a:rPr lang="en-US" sz="10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143510" indent="803910">
              <a:buNone/>
              <a:tabLst>
                <a:tab pos="457835" algn="l"/>
                <a:tab pos="1032510" algn="l"/>
              </a:tabLst>
            </a:pPr>
            <a:r>
              <a:rPr lang="en-US" sz="1050" dirty="0">
                <a:solidFill>
                  <a:srgbClr val="000000"/>
                </a:solidFill>
                <a:effectLst/>
                <a:latin typeface="Wingdings-Regular"/>
                <a:ea typeface="Times New Roman" panose="02020603050405020304" pitchFamily="18" charset="0"/>
                <a:cs typeface="Wingdings-Regular"/>
              </a:rPr>
              <a:t>▪	</a:t>
            </a:r>
            <a:r>
              <a:rPr lang="en-US" sz="1050" spc="-4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el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-P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rf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g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O</a:t>
            </a:r>
            <a:r>
              <a:rPr lang="en-US" sz="1050" spc="-3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spc="-2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3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—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4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ele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 t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</a:t>
            </a:r>
            <a:r>
              <a:rPr lang="en-US" sz="1050" spc="-4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o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i</a:t>
            </a:r>
            <a:r>
              <a:rPr lang="en-US" sz="1050" spc="-4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 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ub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tr</a:t>
            </a:r>
            <a:r>
              <a:rPr lang="en-US" sz="1050" spc="-8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ct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w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ill 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u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 </a:t>
            </a:r>
            <a:r>
              <a:rPr lang="en-US" sz="1050" spc="-7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a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 w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</a:t>
            </a:r>
            <a:r>
              <a:rPr lang="en-US" sz="1050" spc="-3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k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w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ill 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p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rf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</a:t>
            </a:r>
            <a:r>
              <a:rPr lang="en-US" sz="1050" spc="-3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050" spc="-4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spc="-6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er</a:t>
            </a:r>
            <a:r>
              <a:rPr lang="en-US" sz="1050" spc="-25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al</a:t>
            </a:r>
            <a:r>
              <a:rPr lang="en-US" sz="1050" spc="-7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</a:t>
            </a:r>
            <a:r>
              <a:rPr lang="en-US" sz="105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y.</a:t>
            </a:r>
            <a:r>
              <a:rPr lang="en-US" sz="10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143510" indent="803910">
              <a:buNone/>
              <a:tabLst>
                <a:tab pos="457835" algn="l"/>
                <a:tab pos="1032510" algn="l"/>
              </a:tabLst>
            </a:pPr>
            <a:endParaRPr lang="en-US" sz="105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43510" indent="803910">
              <a:buNone/>
              <a:tabLst>
                <a:tab pos="457835" algn="l"/>
                <a:tab pos="1032510" algn="l"/>
              </a:tabLst>
            </a:pPr>
            <a:br>
              <a:rPr lang="en-US" sz="10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Nova-Light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.	</a:t>
            </a:r>
            <a:r>
              <a:rPr lang="en-US" sz="1800" spc="-3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cc</a:t>
            </a:r>
            <a:r>
              <a:rPr lang="en-US" sz="1800" spc="-3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u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</a:t>
            </a:r>
            <a:r>
              <a:rPr lang="en-US" sz="1800" spc="-2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c</a:t>
            </a:r>
            <a:r>
              <a:rPr lang="en-US" sz="1800" spc="-5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y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o</a:t>
            </a:r>
            <a:r>
              <a:rPr lang="en-US" sz="1800" spc="-7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f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800" spc="-4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Fo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rm</a:t>
            </a:r>
            <a:r>
              <a:rPr lang="en-US" sz="1800" spc="-5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800" spc="-1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–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800" spc="-3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nc</a:t>
            </a:r>
            <a:r>
              <a:rPr lang="en-US" sz="1800" spc="-4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spc="-6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m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8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l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800" spc="-4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 </a:t>
            </a:r>
            <a:r>
              <a:rPr lang="en-US" sz="18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c</a:t>
            </a:r>
            <a:r>
              <a:rPr lang="en-US" sz="1800" spc="-8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c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ur</a:t>
            </a:r>
            <a:r>
              <a:rPr lang="en-US" sz="1800" spc="-2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spc="-6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t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H</a:t>
            </a:r>
            <a:r>
              <a:rPr lang="en-US" sz="1800" spc="-4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spc="-2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800" spc="-7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’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 c</a:t>
            </a:r>
            <a:r>
              <a:rPr lang="en-US" sz="1800" spc="-2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spc="-3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b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c</a:t>
            </a:r>
            <a:r>
              <a:rPr lang="en-US" sz="1800" spc="-4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spc="-3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d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spc="-8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d  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43510" indent="457835">
              <a:tabLst>
                <a:tab pos="457835" algn="l"/>
              </a:tabLst>
            </a:pPr>
            <a:r>
              <a:rPr lang="en-US" sz="1800" spc="-3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spc="-3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spc="-1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-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spc="-5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800" spc="-4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spc="-5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v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c</a:t>
            </a:r>
            <a:r>
              <a:rPr lang="en-US" sz="1800" spc="-1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u</a:t>
            </a:r>
            <a:r>
              <a:rPr lang="en-US" sz="1800" spc="-5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spc="-6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g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th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800" spc="-8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F</a:t>
            </a:r>
            <a:r>
              <a:rPr lang="en-US" sz="1800" spc="-2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</a:t>
            </a:r>
            <a:r>
              <a:rPr lang="en-US" sz="1800" spc="-5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u</a:t>
            </a:r>
            <a:r>
              <a:rPr lang="en-US" sz="1800" spc="-7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b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m</a:t>
            </a:r>
            <a:r>
              <a:rPr lang="en-US" sz="18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spc="-5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o</a:t>
            </a:r>
            <a:r>
              <a:rPr lang="en-US" sz="1800" spc="-3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c</a:t>
            </a:r>
            <a:r>
              <a:rPr lang="en-US" sz="1800" spc="-2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spc="-3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n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b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d</a:t>
            </a:r>
            <a:r>
              <a:rPr lang="en-US" sz="18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s</a:t>
            </a:r>
            <a:r>
              <a:rPr lang="en-US" sz="1800" spc="-7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q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u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spc="-3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li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f</a:t>
            </a:r>
            <a:r>
              <a:rPr lang="en-US" sz="1800" spc="-25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i</a:t>
            </a:r>
            <a:r>
              <a:rPr lang="en-US" sz="1800" spc="-2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e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d</a:t>
            </a:r>
            <a:r>
              <a:rPr lang="en-US" sz="1800" spc="-4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.</a:t>
            </a:r>
            <a:r>
              <a:rPr lang="en-US" sz="1800" dirty="0">
                <a:solidFill>
                  <a:srgbClr val="FF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  </a:t>
            </a:r>
          </a:p>
          <a:p>
            <a:pPr marL="0" marR="143510" indent="457835">
              <a:tabLst>
                <a:tab pos="457835" algn="l"/>
              </a:tabLst>
            </a:pPr>
            <a:br>
              <a:rPr lang="en-US" sz="10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Nova-Light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.	</a:t>
            </a:r>
            <a:r>
              <a:rPr lang="en-US" sz="1800" spc="-1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P</a:t>
            </a:r>
            <a:r>
              <a:rPr lang="en-US" sz="1800" spc="-35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ArialNova-Light"/>
                <a:ea typeface="Times New Roman" panose="02020603050405020304" pitchFamily="18" charset="0"/>
                <a:cs typeface="ArialNova-Light"/>
              </a:rPr>
              <a:t>RS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17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15999"/>
          </a:xfrm>
        </p:spPr>
        <p:txBody>
          <a:bodyPr/>
          <a:lstStyle/>
          <a:p>
            <a:pPr algn="ctr"/>
            <a:r>
              <a:rPr lang="en-US" sz="2400" dirty="0"/>
              <a:t> HUB Subcontracting Plan (HSP) Tips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528445"/>
              </p:ext>
            </p:extLst>
          </p:nvPr>
        </p:nvGraphicFramePr>
        <p:xfrm>
          <a:off x="462455" y="4790964"/>
          <a:ext cx="8366235" cy="1125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23878">
                  <a:extLst>
                    <a:ext uri="{9D8B030D-6E8A-4147-A177-3AD203B41FA5}">
                      <a16:colId xmlns:a16="http://schemas.microsoft.com/office/drawing/2014/main" val="1741192818"/>
                    </a:ext>
                  </a:extLst>
                </a:gridCol>
                <a:gridCol w="3442357">
                  <a:extLst>
                    <a:ext uri="{9D8B030D-6E8A-4147-A177-3AD203B41FA5}">
                      <a16:colId xmlns:a16="http://schemas.microsoft.com/office/drawing/2014/main" val="2696800030"/>
                    </a:ext>
                  </a:extLst>
                </a:gridCol>
              </a:tblGrid>
              <a:tr h="11254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Light"/>
                        </a:rPr>
                        <a:t>Natasha Perry, CTCM, PMP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Light"/>
                        </a:rPr>
                        <a:t>Sourcing Specialist, Community Business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Light"/>
                        </a:rPr>
                        <a:t>natasha.perry@utsouthwestern.edu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Light"/>
                        </a:rPr>
                        <a:t>For additional information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Light"/>
                          <a:hlinkClick r:id="rId2"/>
                        </a:rPr>
                        <a:t>HUB@utsouthwestern.edu</a:t>
                      </a:r>
                      <a:r>
                        <a:rPr lang="en-US" sz="1800" dirty="0">
                          <a:latin typeface="Helvetica Light"/>
                        </a:rPr>
                        <a:t>.</a:t>
                      </a:r>
                    </a:p>
                    <a:p>
                      <a:endParaRPr lang="en-US" dirty="0">
                        <a:latin typeface="Helvetica Ligh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973107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15525" y="1298448"/>
            <a:ext cx="8791841" cy="3439806"/>
          </a:xfrm>
        </p:spPr>
        <p:txBody>
          <a:bodyPr>
            <a:noAutofit/>
          </a:bodyPr>
          <a:lstStyle/>
          <a:p>
            <a:pPr marL="758825" lvl="2" indent="-293688">
              <a:buFont typeface="Wingdings" panose="05000000000000000000" pitchFamily="2" charset="2"/>
              <a:buChar char="§"/>
            </a:pPr>
            <a:r>
              <a:rPr lang="en-US" sz="1800" dirty="0"/>
              <a:t>Texas Certified VetHUBs can be located on the Centralized Masters Bidders List  (CMBL) : https://comptroller.texas.gov/purchasing/vendor/cmbl/ </a:t>
            </a:r>
          </a:p>
          <a:p>
            <a:pPr marL="52387" indent="0">
              <a:buNone/>
            </a:pPr>
            <a:r>
              <a:rPr lang="en-US" sz="1800" dirty="0"/>
              <a:t>	▪	UTSW Sourcing Specialist will provide a courtesy preview up to April 17, 2026. </a:t>
            </a:r>
          </a:p>
          <a:p>
            <a:pPr marL="52387" indent="0">
              <a:buNone/>
            </a:pPr>
            <a:r>
              <a:rPr lang="en-US" sz="1800" dirty="0"/>
              <a:t>		Please request reviews at email address provided below. </a:t>
            </a:r>
          </a:p>
        </p:txBody>
      </p:sp>
    </p:spTree>
    <p:extLst>
      <p:ext uri="{BB962C8B-B14F-4D97-AF65-F5344CB8AC3E}">
        <p14:creationId xmlns:p14="http://schemas.microsoft.com/office/powerpoint/2010/main" val="1877463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</a:defRPr>
            </a:lvl9pPr>
          </a:lstStyle>
          <a:p>
            <a:fld id="{AB2A4F52-FC93-4C92-8CBB-6C6CC827169C}" type="slidenum">
              <a:rPr lang="en-US" altLang="en-US">
                <a:solidFill>
                  <a:srgbClr val="7F7F7F"/>
                </a:solidFill>
                <a:latin typeface="Helvetica" panose="020B0604020202020204" pitchFamily="34" charset="0"/>
              </a:rPr>
              <a:pPr/>
              <a:t>8</a:t>
            </a:fld>
            <a:endParaRPr lang="en-US" altLang="en-US" dirty="0">
              <a:solidFill>
                <a:srgbClr val="7F7F7F"/>
              </a:solidFill>
              <a:latin typeface="Helvetica" panose="020B0604020202020204" pitchFamily="34" charset="0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1003300" y="4145975"/>
            <a:ext cx="7308850" cy="1797626"/>
          </a:xfrm>
          <a:prstGeom prst="rect">
            <a:avLst/>
          </a:prstGeom>
        </p:spPr>
        <p:txBody>
          <a:bodyPr/>
          <a:lstStyle>
            <a:lvl1pPr marL="44450" indent="136525" algn="l" defTabSz="457200" rtl="0" eaLnBrk="1" fontAlgn="base" hangingPunct="1">
              <a:lnSpc>
                <a:spcPct val="140000"/>
              </a:lnSpc>
              <a:spcBef>
                <a:spcPts val="1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Helvetica Light"/>
                <a:ea typeface="Geneva" pitchFamily="123" charset="-128"/>
                <a:cs typeface="Helvetica Light"/>
              </a:defRPr>
            </a:lvl1pPr>
            <a:lvl2pPr marL="228600" indent="136525" algn="l" defTabSz="457200" rtl="0" eaLnBrk="1" fontAlgn="base" hangingPunct="1">
              <a:lnSpc>
                <a:spcPct val="140000"/>
              </a:lnSpc>
              <a:spcBef>
                <a:spcPts val="1000"/>
              </a:spcBef>
              <a:spcAft>
                <a:spcPct val="0"/>
              </a:spcAft>
              <a:buFont typeface="Lucida Grande" pitchFamily="123" charset="0"/>
              <a:buChar char="–"/>
              <a:defRPr sz="1200" kern="1200">
                <a:solidFill>
                  <a:schemeClr val="tx1"/>
                </a:solidFill>
                <a:latin typeface="Helvetica Light"/>
                <a:ea typeface="Geneva" pitchFamily="123" charset="-128"/>
                <a:cs typeface="Helvetica Light"/>
              </a:defRPr>
            </a:lvl2pPr>
            <a:lvl3pPr marL="457200" indent="136525" algn="l" defTabSz="457200" rtl="0" eaLnBrk="1" fontAlgn="base" hangingPunct="1">
              <a:lnSpc>
                <a:spcPct val="140000"/>
              </a:lnSpc>
              <a:spcBef>
                <a:spcPts val="1000"/>
              </a:spcBef>
              <a:spcAft>
                <a:spcPct val="0"/>
              </a:spcAft>
              <a:buFont typeface="Lucida Grande" pitchFamily="123" charset="0"/>
              <a:buChar char="–"/>
              <a:defRPr sz="1200" kern="1200">
                <a:solidFill>
                  <a:schemeClr val="tx1"/>
                </a:solidFill>
                <a:latin typeface="Helvetica Light"/>
                <a:ea typeface="Geneva" pitchFamily="123" charset="-128"/>
                <a:cs typeface="Helvetica Light"/>
              </a:defRPr>
            </a:lvl3pPr>
            <a:lvl4pPr marL="685800" indent="136525" algn="l" defTabSz="457200" rtl="0" eaLnBrk="1" fontAlgn="base" hangingPunct="1">
              <a:lnSpc>
                <a:spcPct val="140000"/>
              </a:lnSpc>
              <a:spcBef>
                <a:spcPts val="1000"/>
              </a:spcBef>
              <a:spcAft>
                <a:spcPct val="0"/>
              </a:spcAft>
              <a:buFont typeface="Lucida Grande" pitchFamily="123" charset="0"/>
              <a:buChar char="–"/>
              <a:defRPr sz="1200" kern="1200">
                <a:solidFill>
                  <a:schemeClr val="tx1"/>
                </a:solidFill>
                <a:latin typeface="Helvetica Light"/>
                <a:ea typeface="Geneva" pitchFamily="123" charset="-128"/>
                <a:cs typeface="Helvetica Light"/>
              </a:defRPr>
            </a:lvl4pPr>
            <a:lvl5pPr marL="914400" indent="136525" algn="l" defTabSz="457200" rtl="0" eaLnBrk="1" fontAlgn="base" hangingPunct="1">
              <a:lnSpc>
                <a:spcPct val="140000"/>
              </a:lnSpc>
              <a:spcBef>
                <a:spcPts val="1000"/>
              </a:spcBef>
              <a:spcAft>
                <a:spcPct val="0"/>
              </a:spcAft>
              <a:buFont typeface="Lucida Grande" pitchFamily="123" charset="0"/>
              <a:buChar char="–"/>
              <a:defRPr sz="1200" kern="1200">
                <a:solidFill>
                  <a:schemeClr val="tx1"/>
                </a:solidFill>
                <a:latin typeface="Helvetica Light"/>
                <a:ea typeface="Geneva" pitchFamily="123" charset="-128"/>
                <a:cs typeface="Helvetica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>
              <a:spcBef>
                <a:spcPct val="0"/>
              </a:spcBef>
              <a:buNone/>
            </a:pPr>
            <a:r>
              <a:rPr lang="en-US" altLang="en-US" sz="1600" dirty="0">
                <a:latin typeface="Helvetica Light" pitchFamily="123" charset="0"/>
                <a:cs typeface="Helvetica Light" pitchFamily="123" charset="0"/>
              </a:rPr>
              <a:t>Marcus Howard Sourcing &amp; Contracting Specialist CTCD, CTCM</a:t>
            </a:r>
          </a:p>
          <a:p>
            <a:pPr indent="0" algn="r">
              <a:spcBef>
                <a:spcPct val="0"/>
              </a:spcBef>
              <a:buNone/>
            </a:pPr>
            <a:r>
              <a:rPr lang="en-US" altLang="en-US" sz="1600" dirty="0">
                <a:latin typeface="Helvetica Light" pitchFamily="123" charset="0"/>
                <a:cs typeface="Helvetica Light" pitchFamily="123" charset="0"/>
              </a:rPr>
              <a:t>Office of Supply Chain Management – Strategic Sourcing</a:t>
            </a:r>
          </a:p>
          <a:p>
            <a:pPr indent="0" algn="r">
              <a:spcBef>
                <a:spcPct val="0"/>
              </a:spcBef>
              <a:buNone/>
            </a:pPr>
            <a:r>
              <a:rPr lang="en-US" altLang="en-US" sz="1600" dirty="0">
                <a:latin typeface="Helvetica Light" pitchFamily="123" charset="0"/>
                <a:cs typeface="Helvetica Light" pitchFamily="123" charset="0"/>
              </a:rPr>
              <a:t>Marcus.Howard@UTsouthwestern.edu</a:t>
            </a:r>
          </a:p>
          <a:p>
            <a:pPr indent="0" algn="r">
              <a:spcBef>
                <a:spcPct val="0"/>
              </a:spcBef>
              <a:buNone/>
            </a:pPr>
            <a:r>
              <a:rPr lang="en-US" altLang="en-US" sz="1600" dirty="0">
                <a:latin typeface="Helvetica Light" pitchFamily="123" charset="0"/>
                <a:cs typeface="Helvetica Light" pitchFamily="123" charset="0"/>
              </a:rPr>
              <a:t>FY2026-RFP-HC-00195</a:t>
            </a: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555625" y="1571045"/>
            <a:ext cx="7308850" cy="1797626"/>
          </a:xfrm>
          <a:prstGeom prst="rect">
            <a:avLst/>
          </a:prstGeom>
        </p:spPr>
        <p:txBody>
          <a:bodyPr/>
          <a:lstStyle>
            <a:lvl1pPr marL="44450" indent="136525" algn="l" defTabSz="457200" rtl="0" eaLnBrk="1" fontAlgn="base" hangingPunct="1">
              <a:lnSpc>
                <a:spcPct val="140000"/>
              </a:lnSpc>
              <a:spcBef>
                <a:spcPts val="1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Helvetica Light"/>
                <a:ea typeface="Geneva" pitchFamily="123" charset="-128"/>
                <a:cs typeface="Helvetica Light"/>
              </a:defRPr>
            </a:lvl1pPr>
            <a:lvl2pPr marL="228600" indent="136525" algn="l" defTabSz="457200" rtl="0" eaLnBrk="1" fontAlgn="base" hangingPunct="1">
              <a:lnSpc>
                <a:spcPct val="140000"/>
              </a:lnSpc>
              <a:spcBef>
                <a:spcPts val="1000"/>
              </a:spcBef>
              <a:spcAft>
                <a:spcPct val="0"/>
              </a:spcAft>
              <a:buFont typeface="Lucida Grande" pitchFamily="123" charset="0"/>
              <a:buChar char="–"/>
              <a:defRPr sz="1200" kern="1200">
                <a:solidFill>
                  <a:schemeClr val="tx1"/>
                </a:solidFill>
                <a:latin typeface="Helvetica Light"/>
                <a:ea typeface="Geneva" pitchFamily="123" charset="-128"/>
                <a:cs typeface="Helvetica Light"/>
              </a:defRPr>
            </a:lvl2pPr>
            <a:lvl3pPr marL="457200" indent="136525" algn="l" defTabSz="457200" rtl="0" eaLnBrk="1" fontAlgn="base" hangingPunct="1">
              <a:lnSpc>
                <a:spcPct val="140000"/>
              </a:lnSpc>
              <a:spcBef>
                <a:spcPts val="1000"/>
              </a:spcBef>
              <a:spcAft>
                <a:spcPct val="0"/>
              </a:spcAft>
              <a:buFont typeface="Lucida Grande" pitchFamily="123" charset="0"/>
              <a:buChar char="–"/>
              <a:defRPr sz="1200" kern="1200">
                <a:solidFill>
                  <a:schemeClr val="tx1"/>
                </a:solidFill>
                <a:latin typeface="Helvetica Light"/>
                <a:ea typeface="Geneva" pitchFamily="123" charset="-128"/>
                <a:cs typeface="Helvetica Light"/>
              </a:defRPr>
            </a:lvl3pPr>
            <a:lvl4pPr marL="685800" indent="136525" algn="l" defTabSz="457200" rtl="0" eaLnBrk="1" fontAlgn="base" hangingPunct="1">
              <a:lnSpc>
                <a:spcPct val="140000"/>
              </a:lnSpc>
              <a:spcBef>
                <a:spcPts val="1000"/>
              </a:spcBef>
              <a:spcAft>
                <a:spcPct val="0"/>
              </a:spcAft>
              <a:buFont typeface="Lucida Grande" pitchFamily="123" charset="0"/>
              <a:buChar char="–"/>
              <a:defRPr sz="1200" kern="1200">
                <a:solidFill>
                  <a:schemeClr val="tx1"/>
                </a:solidFill>
                <a:latin typeface="Helvetica Light"/>
                <a:ea typeface="Geneva" pitchFamily="123" charset="-128"/>
                <a:cs typeface="Helvetica Light"/>
              </a:defRPr>
            </a:lvl4pPr>
            <a:lvl5pPr marL="914400" indent="136525" algn="l" defTabSz="457200" rtl="0" eaLnBrk="1" fontAlgn="base" hangingPunct="1">
              <a:lnSpc>
                <a:spcPct val="140000"/>
              </a:lnSpc>
              <a:spcBef>
                <a:spcPts val="1000"/>
              </a:spcBef>
              <a:spcAft>
                <a:spcPct val="0"/>
              </a:spcAft>
              <a:buFont typeface="Lucida Grande" pitchFamily="123" charset="0"/>
              <a:buChar char="–"/>
              <a:defRPr sz="1200" kern="1200">
                <a:solidFill>
                  <a:schemeClr val="tx1"/>
                </a:solidFill>
                <a:latin typeface="Helvetica Light"/>
                <a:ea typeface="Geneva" pitchFamily="123" charset="-128"/>
                <a:cs typeface="Helvetica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en-US" sz="7200" dirty="0">
                <a:latin typeface="Helvetica Light" pitchFamily="123" charset="0"/>
                <a:cs typeface="Helvetica Light" pitchFamily="123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1034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729-19-15 Eval Summary v1 [Compatibility Mode]" id="{CC65066A-53D4-4251-9AAA-24FCB753FB44}" vid="{847802CB-B028-4977-A0B5-BB6C2DCEEF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418695-71ac-4c31-b5b2-c196c8ec3c8a}" enabled="0" method="" siteId="{9d418695-71ac-4c31-b5b2-c196c8ec3c8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729-19-15 Eval Summary v1</Template>
  <TotalTime>2864</TotalTime>
  <Words>586</Words>
  <Application>Microsoft Office PowerPoint</Application>
  <PresentationFormat>On-screen Show (4:3)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Aptos</vt:lpstr>
      <vt:lpstr>Aptos-Bold</vt:lpstr>
      <vt:lpstr>Arial</vt:lpstr>
      <vt:lpstr>ArialNova-Light</vt:lpstr>
      <vt:lpstr>ArialNova-LightItalic</vt:lpstr>
      <vt:lpstr>Calibri</vt:lpstr>
      <vt:lpstr>Helvetica</vt:lpstr>
      <vt:lpstr>Helvetica Light</vt:lpstr>
      <vt:lpstr>Lucida Grande</vt:lpstr>
      <vt:lpstr>Times New Roman</vt:lpstr>
      <vt:lpstr>Wingdings</vt:lpstr>
      <vt:lpstr>Wingdings-Regular</vt:lpstr>
      <vt:lpstr>Office Theme</vt:lpstr>
      <vt:lpstr>PowerPoint Presentation</vt:lpstr>
      <vt:lpstr>Scope of Services Overview</vt:lpstr>
      <vt:lpstr>Question Group 1</vt:lpstr>
      <vt:lpstr>Question Group 2</vt:lpstr>
      <vt:lpstr>Important Procurement Dates</vt:lpstr>
      <vt:lpstr>Veteran Heroes United in Business (VetHUB) HUB Subcontracting Plan (HSP)</vt:lpstr>
      <vt:lpstr> HUB Subcontracting Plan (HSP) Tips</vt:lpstr>
      <vt:lpstr>PowerPoint Presentation</vt:lpstr>
    </vt:vector>
  </TitlesOfParts>
  <Manager/>
  <Company>UT Southwestern Medical Center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Ana Quintanilla</dc:creator>
  <cp:keywords/>
  <dc:description/>
  <cp:lastModifiedBy>Marcus Howard</cp:lastModifiedBy>
  <cp:revision>364</cp:revision>
  <dcterms:created xsi:type="dcterms:W3CDTF">2018-05-26T19:51:06Z</dcterms:created>
  <dcterms:modified xsi:type="dcterms:W3CDTF">2026-04-01T14:37:19Z</dcterms:modified>
  <cp:category/>
</cp:coreProperties>
</file>